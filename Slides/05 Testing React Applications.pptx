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909" r:id="rId2"/>
    <p:sldId id="257" r:id="rId3"/>
    <p:sldId id="784" r:id="rId4"/>
    <p:sldId id="783" r:id="rId5"/>
    <p:sldId id="597" r:id="rId6"/>
    <p:sldId id="910" r:id="rId7"/>
    <p:sldId id="911" r:id="rId8"/>
    <p:sldId id="847" r:id="rId9"/>
    <p:sldId id="912" r:id="rId10"/>
    <p:sldId id="850" r:id="rId11"/>
    <p:sldId id="913" r:id="rId12"/>
    <p:sldId id="914" r:id="rId13"/>
    <p:sldId id="915" r:id="rId14"/>
    <p:sldId id="916" r:id="rId15"/>
    <p:sldId id="919" r:id="rId16"/>
    <p:sldId id="917" r:id="rId17"/>
    <p:sldId id="918" r:id="rId18"/>
    <p:sldId id="920" r:id="rId19"/>
    <p:sldId id="921" r:id="rId20"/>
    <p:sldId id="922" r:id="rId21"/>
    <p:sldId id="923" r:id="rId22"/>
    <p:sldId id="924" r:id="rId23"/>
    <p:sldId id="925" r:id="rId24"/>
    <p:sldId id="926" r:id="rId25"/>
    <p:sldId id="927" r:id="rId26"/>
    <p:sldId id="928" r:id="rId27"/>
    <p:sldId id="929" r:id="rId28"/>
    <p:sldId id="930" r:id="rId29"/>
    <p:sldId id="778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5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217019-B269-E7CE-4AF8-D1C51EC27C5F}" name="Eleanor Bru" initials="EB" userId="c3414d580ad3abed" providerId="Windows Live"/>
  <p188:author id="{EF5443F8-339B-911B-DEC5-F5824A0E0637}" name="Andy Olsen" initials="AO" userId="31001af84371f4e8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eanor Bru" initials="EB" lastIdx="2" clrIdx="0">
    <p:extLst>
      <p:ext uri="{19B8F6BF-5375-455C-9EA6-DF929625EA0E}">
        <p15:presenceInfo xmlns:p15="http://schemas.microsoft.com/office/powerpoint/2012/main" userId="c3414d580ad3abed" providerId="Windows Live"/>
      </p:ext>
    </p:extLst>
  </p:cmAuthor>
  <p:cmAuthor id="2" name="Andy Olsen" initials="AO" lastIdx="2" clrIdx="1">
    <p:extLst>
      <p:ext uri="{19B8F6BF-5375-455C-9EA6-DF929625EA0E}">
        <p15:presenceInfo xmlns:p15="http://schemas.microsoft.com/office/powerpoint/2012/main" userId="31001af84371f4e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AFF"/>
    <a:srgbClr val="C96B69"/>
    <a:srgbClr val="FFE5FF"/>
    <a:srgbClr val="CCFF66"/>
    <a:srgbClr val="157FA1"/>
    <a:srgbClr val="6CA62C"/>
    <a:srgbClr val="CCECFF"/>
    <a:srgbClr val="A5C5D0"/>
    <a:srgbClr val="FFE79B"/>
    <a:srgbClr val="FFD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0" autoAdjust="0"/>
    <p:restoredTop sz="96327" autoAdjust="0"/>
  </p:normalViewPr>
  <p:slideViewPr>
    <p:cSldViewPr snapToGrid="0" snapToObjects="1">
      <p:cViewPr varScale="1">
        <p:scale>
          <a:sx n="114" d="100"/>
          <a:sy n="114" d="100"/>
        </p:scale>
        <p:origin x="261" y="43"/>
      </p:cViewPr>
      <p:guideLst>
        <p:guide orient="horz" pos="1620"/>
        <p:guide pos="526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1" d="100"/>
        <a:sy n="131" d="100"/>
      </p:scale>
      <p:origin x="0" y="-1632"/>
    </p:cViewPr>
  </p:sorterViewPr>
  <p:notesViewPr>
    <p:cSldViewPr snapToGrid="0" snapToObjects="1">
      <p:cViewPr varScale="1">
        <p:scale>
          <a:sx n="84" d="100"/>
          <a:sy n="84" d="100"/>
        </p:scale>
        <p:origin x="263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EBBD1-6077-4938-811F-54E4AC433829}" type="datetimeFigureOut">
              <a:rPr lang="en-GB" smtClean="0"/>
              <a:t>17/12/2024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77016-B761-47E8-ADDA-7F73F02D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56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5860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5860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 dirty="0"/>
              <a:t>Introduction to Unit Testing with Jasmine</a:t>
            </a:r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3642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 dirty="0"/>
              <a:t>Introduction to Unit Testing with Jasmine</a:t>
            </a:r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3203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992313" y="309563"/>
            <a:ext cx="3476625" cy="182562"/>
          </a:xfrm>
          <a:noFill/>
        </p:spPr>
        <p:txBody>
          <a:bodyPr/>
          <a:lstStyle/>
          <a:p>
            <a:r>
              <a:rPr lang="en-GB" dirty="0"/>
              <a:t>Getting Started with Unit Testing</a:t>
            </a:r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859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280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848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14642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0" y="9140342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986186" y="4493362"/>
            <a:ext cx="119641" cy="29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879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050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635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265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946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29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7290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443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9730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486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667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7958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6352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176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7571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5796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857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414642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0" y="9140342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10754"/>
            <a:ext cx="3168781" cy="44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986186" y="4493362"/>
            <a:ext cx="119641" cy="29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798513" y="309563"/>
            <a:ext cx="5792787" cy="1952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000" b="0">
                <a:solidFill>
                  <a:schemeClr val="tx2"/>
                </a:solidFill>
              </a:rPr>
              <a:t>Unit Testing in Angular</a:t>
            </a:r>
            <a:endParaRPr lang="en-GB" sz="10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883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399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95665" y="312434"/>
            <a:ext cx="5239240" cy="62809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200" b="1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r>
              <a:rPr lang="en-US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32965" y="1365666"/>
            <a:ext cx="6233685" cy="1314450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2800" b="0" baseline="0">
                <a:solidFill>
                  <a:srgbClr val="454D4E"/>
                </a:solidFill>
                <a:latin typeface="Open Sans" panose="020B0606030504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 </a:t>
            </a:r>
          </a:p>
          <a:p>
            <a:r>
              <a:rPr lang="en-US" dirty="0"/>
              <a:t>Subtitle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990887" y="3071448"/>
            <a:ext cx="924769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8CCAB-E820-9A47-AD4C-1EB8C1B26AD7}"/>
              </a:ext>
            </a:extLst>
          </p:cNvPr>
          <p:cNvSpPr/>
          <p:nvPr userDrawn="1"/>
        </p:nvSpPr>
        <p:spPr>
          <a:xfrm>
            <a:off x="1787246" y="1365666"/>
            <a:ext cx="45719" cy="1314450"/>
          </a:xfrm>
          <a:prstGeom prst="rect">
            <a:avLst/>
          </a:prstGeom>
          <a:solidFill>
            <a:srgbClr val="005A6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05610" y="3340896"/>
            <a:ext cx="3802750" cy="285750"/>
          </a:xfrm>
        </p:spPr>
        <p:txBody>
          <a:bodyPr>
            <a:noAutofit/>
          </a:bodyPr>
          <a:lstStyle>
            <a:lvl1pPr marL="0" indent="0">
              <a:buNone/>
              <a:defRPr sz="1600" b="1" i="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5138" y="3624753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 Title</a:t>
            </a:r>
          </a:p>
        </p:txBody>
      </p:sp>
    </p:spTree>
    <p:extLst>
      <p:ext uri="{BB962C8B-B14F-4D97-AF65-F5344CB8AC3E}">
        <p14:creationId xmlns:p14="http://schemas.microsoft.com/office/powerpoint/2010/main" val="261590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-Based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DB9BA875-8F0C-B043-BBB0-CF947572DB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6651" y="791375"/>
            <a:ext cx="279507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99" y="203200"/>
            <a:ext cx="5197231" cy="863804"/>
          </a:xfrm>
        </p:spPr>
        <p:txBody>
          <a:bodyPr>
            <a:normAutofit/>
          </a:bodyPr>
          <a:lstStyle>
            <a:lvl1pPr marL="0" indent="0">
              <a:buNone/>
              <a:defRPr sz="2000" b="1" i="0" kern="8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Lesson #: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C425D4-B551-AD45-94B6-DB4297EE73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7600" y="1066800"/>
            <a:ext cx="4853353" cy="3284538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i="0" baseline="0"/>
            </a:lvl1pPr>
          </a:lstStyle>
          <a:p>
            <a:pPr marL="0" indent="0">
              <a:buNone/>
            </a:pPr>
            <a:r>
              <a:rPr lang="en-US" sz="1600" baseline="0" dirty="0">
                <a:latin typeface="Open Sans" panose="020B0606030504020204" pitchFamily="34" charset="0"/>
              </a:rPr>
              <a:t>1.1  Sub-lesson Title</a:t>
            </a:r>
          </a:p>
          <a:p>
            <a:pPr marL="0" indent="0">
              <a:buNone/>
            </a:pPr>
            <a:endParaRPr lang="en-US" sz="1600" i="1" baseline="0" dirty="0"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600" baseline="0" dirty="0">
                <a:latin typeface="Open Sans" panose="020B0606030504020204" pitchFamily="34" charset="0"/>
              </a:rPr>
              <a:t>1.2  Sub-lesson Title</a:t>
            </a:r>
          </a:p>
          <a:p>
            <a:pPr marL="0" indent="0">
              <a:buNone/>
            </a:pPr>
            <a:endParaRPr lang="en-US" sz="1600" i="1" baseline="0" dirty="0"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600" baseline="0" dirty="0">
                <a:latin typeface="Open Sans" panose="020B0606030504020204" pitchFamily="34" charset="0"/>
              </a:rPr>
              <a:t>1.3  Sub-lesson Title</a:t>
            </a:r>
          </a:p>
          <a:p>
            <a:pPr marL="0" indent="0">
              <a:buNone/>
            </a:pPr>
            <a:endParaRPr lang="en-US" sz="1600" i="1" baseline="0" dirty="0"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600" baseline="0" dirty="0">
                <a:latin typeface="Open Sans" panose="020B0606030504020204" pitchFamily="34" charset="0"/>
              </a:rPr>
              <a:t>1.4  Sub-lesson Title</a:t>
            </a:r>
          </a:p>
          <a:p>
            <a:pPr marL="0" indent="0">
              <a:buNone/>
            </a:pPr>
            <a:endParaRPr lang="en-US" sz="1600" i="1" baseline="0" dirty="0"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600" baseline="0" dirty="0">
                <a:latin typeface="Open Sans" panose="020B0606030504020204" pitchFamily="34" charset="0"/>
              </a:rPr>
              <a:t>1.5  Sub-lesson Title</a:t>
            </a:r>
            <a:endParaRPr lang="en-US" sz="1600" i="1" baseline="0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46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342" y="36576"/>
            <a:ext cx="8139643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600" baseline="0">
                <a:solidFill>
                  <a:srgbClr val="FFFFFF"/>
                </a:solidFill>
                <a:latin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924309"/>
            <a:ext cx="8032484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900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37E7A5-C794-114A-A34F-0378290F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36576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600" baseline="0">
                <a:solidFill>
                  <a:srgbClr val="FFFFFF"/>
                </a:solidFill>
                <a:latin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311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Images o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ctangle&#10;&#10;Description automatically generated with low confidence">
            <a:extLst>
              <a:ext uri="{FF2B5EF4-FFF2-40B4-BE49-F238E27FC236}">
                <a16:creationId xmlns:a16="http://schemas.microsoft.com/office/drawing/2014/main" id="{F5F86E6A-75F1-2D47-AE3C-B0A9022B4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75D909E-3FE8-6F4D-8B9A-A9DF9A07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36576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600" baseline="0">
                <a:solidFill>
                  <a:srgbClr val="FFFFFF"/>
                </a:solidFill>
                <a:latin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E6267E-0F06-BD40-979A-789D74388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2430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654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E3EC92-0BF8-B04C-BDA1-D36DC16EC2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1061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36832" y="1597819"/>
            <a:ext cx="4975394" cy="110251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Lesson #: Lesson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6831" y="2788538"/>
            <a:ext cx="4975395" cy="1314450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2800" b="0" baseline="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#.# 	Learning objective or      Sub-lesson Title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823434-19E5-7244-957A-48409271A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620" y="11269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6839712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2777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0CCCA5-FF07-3E49-BCA2-619E38AACD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98"/>
            <a:ext cx="7552944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4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Images o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56CC22-FD07-7A4D-847A-EADD8CC518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98"/>
            <a:ext cx="7556938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6183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161795-AF74-6141-B77F-64153FAB4A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4371" y="4595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8318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0254D4-82EE-7743-8DC5-A96F5C6799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44371" y="4604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5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A03A33-EFE2-8C43-836B-41753232C6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05778" y="1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14537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33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47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49" r:id="rId6"/>
    <p:sldLayoutId id="2147483650" r:id="rId7"/>
    <p:sldLayoutId id="2147483652" r:id="rId8"/>
    <p:sldLayoutId id="2147483654" r:id="rId9"/>
    <p:sldLayoutId id="2147483656" r:id="rId10"/>
    <p:sldLayoutId id="2147483657" r:id="rId11"/>
    <p:sldLayoutId id="2147483655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itest.dev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7068" y="312434"/>
            <a:ext cx="6797758" cy="628090"/>
          </a:xfrm>
        </p:spPr>
        <p:txBody>
          <a:bodyPr/>
          <a:lstStyle/>
          <a:p>
            <a:r>
              <a:rPr lang="en-US" sz="2800" dirty="0">
                <a:solidFill>
                  <a:srgbClr val="005B70"/>
                </a:solidFill>
              </a:rPr>
              <a:t>Testing React Applications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E04218F-10E0-4B14-BDB1-FF256EC12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2965" y="1304466"/>
            <a:ext cx="6233685" cy="1314450"/>
          </a:xfrm>
        </p:spPr>
        <p:txBody>
          <a:bodyPr>
            <a:noAutofit/>
          </a:bodyPr>
          <a:lstStyle/>
          <a:p>
            <a:pPr marL="512763" indent="-457200">
              <a:buFont typeface="+mj-lt"/>
              <a:buAutoNum type="arabicPeriod"/>
              <a:tabLst>
                <a:tab pos="446088" algn="l"/>
              </a:tabLst>
            </a:pPr>
            <a:r>
              <a:rPr lang="en-GB" sz="2200" dirty="0"/>
              <a:t>Introduction to web testing</a:t>
            </a:r>
          </a:p>
          <a:p>
            <a:pPr marL="512763" indent="-457200">
              <a:buFont typeface="+mj-lt"/>
              <a:buAutoNum type="arabicPeriod"/>
              <a:tabLst>
                <a:tab pos="446088" algn="l"/>
              </a:tabLst>
            </a:pPr>
            <a:r>
              <a:rPr lang="en-GB" sz="2200" dirty="0"/>
              <a:t>Getting started with Vitest</a:t>
            </a:r>
          </a:p>
          <a:p>
            <a:pPr marL="512763" indent="-457200">
              <a:buFont typeface="+mj-lt"/>
              <a:buAutoNum type="arabicPeriod"/>
              <a:tabLst>
                <a:tab pos="446088" algn="l"/>
              </a:tabLst>
            </a:pPr>
            <a:r>
              <a:rPr lang="en-GB" sz="2200" dirty="0"/>
              <a:t>Using Vitest to test React applications</a:t>
            </a:r>
          </a:p>
        </p:txBody>
      </p:sp>
    </p:spTree>
    <p:extLst>
      <p:ext uri="{BB962C8B-B14F-4D97-AF65-F5344CB8AC3E}">
        <p14:creationId xmlns:p14="http://schemas.microsoft.com/office/powerpoint/2010/main" val="3576386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342" y="36576"/>
            <a:ext cx="8139643" cy="560552"/>
          </a:xfrm>
        </p:spPr>
        <p:txBody>
          <a:bodyPr/>
          <a:lstStyle/>
          <a:p>
            <a:r>
              <a:rPr lang="en-US" dirty="0"/>
              <a:t>Section 1:  Introduction to Web Testing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C4D046-3B81-47EF-BB58-9F17FAB63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24309"/>
            <a:ext cx="8032484" cy="3742941"/>
          </a:xfrm>
        </p:spPr>
        <p:txBody>
          <a:bodyPr>
            <a:normAutofit/>
          </a:bodyPr>
          <a:lstStyle/>
          <a:p>
            <a:r>
              <a:rPr lang="en-GB" dirty="0"/>
              <a:t>The traditional approach to testing web apps</a:t>
            </a:r>
          </a:p>
          <a:p>
            <a:r>
              <a:rPr lang="en-GB" dirty="0"/>
              <a:t>A better approach to testing</a:t>
            </a:r>
          </a:p>
          <a:p>
            <a:r>
              <a:rPr lang="en-GB" dirty="0"/>
              <a:t>Web testing frameworks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548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Traditional Approach to Testing Web Apps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Traditionally, developers used to take a manual approach to testing web apps</a:t>
            </a:r>
          </a:p>
          <a:p>
            <a:pPr lvl="1"/>
            <a:r>
              <a:rPr lang="en-GB" dirty="0"/>
              <a:t>Look at the web page in a browser, to see if it looks right</a:t>
            </a:r>
          </a:p>
          <a:p>
            <a:pPr lvl="1"/>
            <a:r>
              <a:rPr lang="en-GB" dirty="0"/>
              <a:t>Or call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alert()</a:t>
            </a:r>
            <a:r>
              <a:rPr lang="en-GB" dirty="0"/>
              <a:t> many times, to display variable values</a:t>
            </a:r>
          </a:p>
          <a:p>
            <a:pPr lvl="1"/>
            <a:endParaRPr lang="en-GB" dirty="0"/>
          </a:p>
          <a:p>
            <a:r>
              <a:rPr lang="en-GB" dirty="0"/>
              <a:t>What's wrong with this approach?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270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Better Approach to Testing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Here's a better approach to testing:</a:t>
            </a:r>
          </a:p>
          <a:p>
            <a:pPr lvl="1"/>
            <a:r>
              <a:rPr lang="en-GB" dirty="0"/>
              <a:t>Write a formal test</a:t>
            </a:r>
          </a:p>
          <a:p>
            <a:pPr lvl="1"/>
            <a:r>
              <a:rPr lang="en-GB" dirty="0"/>
              <a:t>Run the test to verify successful outcome</a:t>
            </a:r>
          </a:p>
          <a:p>
            <a:pPr lvl="1"/>
            <a:r>
              <a:rPr lang="en-GB" dirty="0"/>
              <a:t>Keep test code as well as real code, so you can run the tests again and again as the code evolves</a:t>
            </a:r>
          </a:p>
        </p:txBody>
      </p:sp>
    </p:spTree>
    <p:extLst>
      <p:ext uri="{BB962C8B-B14F-4D97-AF65-F5344CB8AC3E}">
        <p14:creationId xmlns:p14="http://schemas.microsoft.com/office/powerpoint/2010/main" val="3498260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Testing Frameworks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Many web testing frameworks have emerged and proved popular over the years, including:</a:t>
            </a:r>
          </a:p>
          <a:p>
            <a:pPr lvl="1"/>
            <a:r>
              <a:rPr lang="en-GB" dirty="0"/>
              <a:t>Mocha</a:t>
            </a:r>
          </a:p>
          <a:p>
            <a:pPr lvl="1"/>
            <a:r>
              <a:rPr lang="en-GB" dirty="0"/>
              <a:t>Jasmine</a:t>
            </a:r>
          </a:p>
          <a:p>
            <a:pPr lvl="1"/>
            <a:r>
              <a:rPr lang="en-GB" dirty="0"/>
              <a:t>Jest</a:t>
            </a:r>
          </a:p>
          <a:p>
            <a:pPr lvl="1"/>
            <a:r>
              <a:rPr lang="en-GB" dirty="0"/>
              <a:t>Vitest</a:t>
            </a:r>
          </a:p>
          <a:p>
            <a:pPr lvl="1"/>
            <a:endParaRPr lang="en-GB" dirty="0"/>
          </a:p>
          <a:p>
            <a:r>
              <a:rPr lang="en-GB" dirty="0"/>
              <a:t>We're going to use Vitest</a:t>
            </a:r>
          </a:p>
          <a:p>
            <a:pPr lvl="1"/>
            <a:r>
              <a:rPr lang="en-GB" dirty="0"/>
              <a:t>Fast, modern, </a:t>
            </a:r>
            <a:r>
              <a:rPr lang="en-GB" dirty="0" err="1"/>
              <a:t>Vite</a:t>
            </a:r>
            <a:r>
              <a:rPr lang="en-GB" dirty="0"/>
              <a:t>-native testing framework</a:t>
            </a:r>
          </a:p>
          <a:p>
            <a:pPr lvl="1"/>
            <a:r>
              <a:rPr lang="en-GB" dirty="0"/>
              <a:t>See </a:t>
            </a:r>
            <a:r>
              <a:rPr lang="en-GB" dirty="0">
                <a:hlinkClick r:id="rId3"/>
              </a:rPr>
              <a:t>https://vitest.dev/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806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342" y="36576"/>
            <a:ext cx="8139643" cy="560552"/>
          </a:xfrm>
        </p:spPr>
        <p:txBody>
          <a:bodyPr/>
          <a:lstStyle/>
          <a:p>
            <a:r>
              <a:rPr lang="en-US" dirty="0"/>
              <a:t>Section 2:  Getting Started with </a:t>
            </a:r>
            <a:r>
              <a:rPr lang="en-US" dirty="0" err="1"/>
              <a:t>Vitest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C4D046-3B81-47EF-BB58-9F17FAB63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24309"/>
            <a:ext cx="8032484" cy="3742941"/>
          </a:xfrm>
        </p:spPr>
        <p:txBody>
          <a:bodyPr>
            <a:normAutofit/>
          </a:bodyPr>
          <a:lstStyle/>
          <a:p>
            <a:r>
              <a:rPr lang="en-GB" dirty="0"/>
              <a:t>Overview</a:t>
            </a:r>
          </a:p>
          <a:p>
            <a:r>
              <a:rPr lang="en-GB" dirty="0"/>
              <a:t>Minimal dependency for Vitest </a:t>
            </a:r>
          </a:p>
          <a:p>
            <a:r>
              <a:rPr lang="en-GB" dirty="0"/>
              <a:t>Writing tests</a:t>
            </a:r>
          </a:p>
          <a:p>
            <a:r>
              <a:rPr lang="en-GB" dirty="0"/>
              <a:t>Running tests</a:t>
            </a:r>
          </a:p>
        </p:txBody>
      </p:sp>
    </p:spTree>
    <p:extLst>
      <p:ext uri="{BB962C8B-B14F-4D97-AF65-F5344CB8AC3E}">
        <p14:creationId xmlns:p14="http://schemas.microsoft.com/office/powerpoint/2010/main" val="640805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342" y="36576"/>
            <a:ext cx="8139643" cy="560552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C4D046-3B81-47EF-BB58-9F17FAB63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24309"/>
            <a:ext cx="8032484" cy="3742941"/>
          </a:xfrm>
        </p:spPr>
        <p:txBody>
          <a:bodyPr>
            <a:normAutofit/>
          </a:bodyPr>
          <a:lstStyle/>
          <a:p>
            <a:r>
              <a:rPr lang="en-GB" dirty="0"/>
              <a:t>In this section we'll see a bare-bones example of how to use Vitest to write and run tests</a:t>
            </a:r>
          </a:p>
          <a:p>
            <a:pPr lvl="1"/>
            <a:endParaRPr lang="en-GB" dirty="0"/>
          </a:p>
          <a:p>
            <a:r>
              <a:rPr lang="en-GB" dirty="0"/>
              <a:t>We'll show:</a:t>
            </a:r>
          </a:p>
          <a:p>
            <a:pPr lvl="1"/>
            <a:r>
              <a:rPr lang="en-GB" dirty="0"/>
              <a:t>How to install minimal Vitest dependencies</a:t>
            </a:r>
          </a:p>
          <a:p>
            <a:pPr lvl="1"/>
            <a:r>
              <a:rPr lang="en-GB" dirty="0"/>
              <a:t>How to write simple tests</a:t>
            </a:r>
          </a:p>
          <a:p>
            <a:pPr lvl="1"/>
            <a:r>
              <a:rPr lang="en-GB" dirty="0"/>
              <a:t>How to run tests</a:t>
            </a:r>
          </a:p>
          <a:p>
            <a:pPr lvl="1"/>
            <a:endParaRPr lang="en-GB" dirty="0"/>
          </a:p>
          <a:p>
            <a:r>
              <a:rPr lang="en-GB" dirty="0"/>
              <a:t>See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demo-app-1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674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Minimal Dependency for Vitest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Here's the minimal dependency for using Vitest: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It's also convenient to define the following script entry: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62286"/>
            <a:ext cx="7241383" cy="685286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devDependencies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defTabSz="554831"/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"vitest": "^1.6.0",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493468" y="1797443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62DCCEDB-EE8F-7F23-0239-7979F2002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2980533"/>
            <a:ext cx="7241383" cy="685286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"scripts":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"test": "vitest",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4F1BF-780F-7193-2D17-3F68D6408A41}"/>
              </a:ext>
            </a:extLst>
          </p:cNvPr>
          <p:cNvSpPr txBox="1"/>
          <p:nvPr/>
        </p:nvSpPr>
        <p:spPr>
          <a:xfrm>
            <a:off x="7493468" y="3419598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9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Writing Tests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 are some simple tests using Vitest: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Vitest is compatible with the Jest test framework</a:t>
            </a:r>
          </a:p>
          <a:p>
            <a:pPr lvl="1"/>
            <a:r>
              <a:rPr lang="en-GB" dirty="0"/>
              <a:t>It uses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expect</a:t>
            </a:r>
            <a:r>
              <a:rPr lang="en-GB" dirty="0"/>
              <a:t>, etc. in the same way as Jest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4F9AA427-51BD-336C-2E23-8B384671A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64617"/>
            <a:ext cx="7249114" cy="1939635"/>
          </a:xfrm>
          <a:prstGeom prst="rect">
            <a:avLst/>
          </a:prstGeom>
          <a:solidFill>
            <a:srgbClr val="FFE79B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FFB953"/>
            </a:outerShdw>
          </a:effectLst>
        </p:spPr>
        <p:txBody>
          <a:bodyPr wrap="square" lIns="92075" tIns="46038" rIns="92075" bIns="46038" anchor="ctr">
            <a:spAutoFit/>
          </a:bodyPr>
          <a:lstStyle/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describe, it, expect } from '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vitest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describe('vitest simple example', () =&gt; {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it('shows 2 + 2 is 4', () =&gt; {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expect(2 + 2).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toBe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(4);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it('shows 2 + 2 is not 5', () =&gt; {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expect(2 + 2).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not.toBe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(5);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  <a:endParaRPr lang="en-GB" sz="1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FEB13-C91A-5E29-C076-A767A78A3949}"/>
              </a:ext>
            </a:extLst>
          </p:cNvPr>
          <p:cNvSpPr txBox="1"/>
          <p:nvPr/>
        </p:nvSpPr>
        <p:spPr>
          <a:xfrm>
            <a:off x="7262636" y="3054123"/>
            <a:ext cx="13388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example.test.ts</a:t>
            </a:r>
            <a:endParaRPr lang="en-GB" sz="1000" b="1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513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1678782" y="4669631"/>
            <a:ext cx="1394222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3487341" y="4669631"/>
            <a:ext cx="2169319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6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Running Tests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25CA6-BBEE-4C0B-9E3A-3E5CC775E799}"/>
              </a:ext>
            </a:extLst>
          </p:cNvPr>
          <p:cNvSpPr txBox="1"/>
          <p:nvPr/>
        </p:nvSpPr>
        <p:spPr>
          <a:xfrm>
            <a:off x="1352350" y="870759"/>
            <a:ext cx="6852254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run test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B937D4-0CB0-08CA-F53F-2DF7EC25B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350" y="1597181"/>
            <a:ext cx="6852254" cy="3177181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9A418048-EB4B-4531-82B2-3A6C79D5B006}"/>
              </a:ext>
            </a:extLst>
          </p:cNvPr>
          <p:cNvSpPr/>
          <p:nvPr/>
        </p:nvSpPr>
        <p:spPr>
          <a:xfrm>
            <a:off x="2208100" y="1139971"/>
            <a:ext cx="541576" cy="77870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4641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342" y="36576"/>
            <a:ext cx="8139643" cy="560552"/>
          </a:xfrm>
        </p:spPr>
        <p:txBody>
          <a:bodyPr/>
          <a:lstStyle/>
          <a:p>
            <a:r>
              <a:rPr lang="en-US" dirty="0"/>
              <a:t>Section 3: </a:t>
            </a:r>
            <a:r>
              <a:rPr lang="en-GB" dirty="0"/>
              <a:t>Using Vitest to Test React Applications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C4D046-3B81-47EF-BB58-9F17FAB63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24309"/>
            <a:ext cx="8032484" cy="3742941"/>
          </a:xfrm>
        </p:spPr>
        <p:txBody>
          <a:bodyPr>
            <a:normAutofit/>
          </a:bodyPr>
          <a:lstStyle/>
          <a:p>
            <a:r>
              <a:rPr lang="en-GB" dirty="0"/>
              <a:t>Overview</a:t>
            </a:r>
          </a:p>
          <a:p>
            <a:r>
              <a:rPr lang="en-GB" dirty="0"/>
              <a:t>Full dependencies for Vitest and React</a:t>
            </a:r>
          </a:p>
          <a:p>
            <a:r>
              <a:rPr lang="en-GB" altLang="en-US" dirty="0"/>
              <a:t>Vitest configuration</a:t>
            </a:r>
          </a:p>
          <a:p>
            <a:r>
              <a:rPr lang="en-GB" altLang="en-US" dirty="0"/>
              <a:t>Test setup</a:t>
            </a:r>
          </a:p>
          <a:p>
            <a:r>
              <a:rPr lang="en-GB" dirty="0"/>
              <a:t>Writing tests for React</a:t>
            </a:r>
          </a:p>
          <a:p>
            <a:r>
              <a:rPr lang="en-GB" dirty="0"/>
              <a:t>Running the tests</a:t>
            </a:r>
          </a:p>
        </p:txBody>
      </p:sp>
    </p:spTree>
    <p:extLst>
      <p:ext uri="{BB962C8B-B14F-4D97-AF65-F5344CB8AC3E}">
        <p14:creationId xmlns:p14="http://schemas.microsoft.com/office/powerpoint/2010/main" val="1740527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342" y="36576"/>
            <a:ext cx="8139643" cy="560552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C4D046-3B81-47EF-BB58-9F17FAB63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923925"/>
            <a:ext cx="8032750" cy="4003675"/>
          </a:xfrm>
        </p:spPr>
        <p:txBody>
          <a:bodyPr>
            <a:normAutofit/>
          </a:bodyPr>
          <a:lstStyle/>
          <a:p>
            <a:r>
              <a:rPr lang="en-GB" dirty="0"/>
              <a:t>In this section we'll see how to use Vitest to test React applications</a:t>
            </a:r>
          </a:p>
          <a:p>
            <a:pPr lvl="1"/>
            <a:endParaRPr lang="en-GB" dirty="0"/>
          </a:p>
          <a:p>
            <a:r>
              <a:rPr lang="en-GB" dirty="0"/>
              <a:t>We'll show:</a:t>
            </a:r>
          </a:p>
          <a:p>
            <a:pPr lvl="1"/>
            <a:r>
              <a:rPr lang="en-GB" dirty="0"/>
              <a:t>How to install full dependencies for Vitest and React </a:t>
            </a:r>
          </a:p>
          <a:p>
            <a:pPr lvl="1"/>
            <a:r>
              <a:rPr lang="en-GB" dirty="0"/>
              <a:t>How to configure Vitest</a:t>
            </a:r>
          </a:p>
          <a:p>
            <a:pPr lvl="1"/>
            <a:r>
              <a:rPr lang="en-GB" dirty="0"/>
              <a:t>How to define test setup</a:t>
            </a:r>
          </a:p>
          <a:p>
            <a:pPr lvl="1"/>
            <a:r>
              <a:rPr lang="en-GB" dirty="0"/>
              <a:t>How to write and run tests</a:t>
            </a:r>
          </a:p>
          <a:p>
            <a:pPr lvl="1"/>
            <a:endParaRPr lang="en-GB" dirty="0"/>
          </a:p>
          <a:p>
            <a:r>
              <a:rPr lang="en-GB" dirty="0"/>
              <a:t>See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demo-app-2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37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Full Dependencies for Vitest and React (1 of 5)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 are the full dependencies for using Vitest to test a React application: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following slides describe these dependencies…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707867"/>
            <a:ext cx="7241383" cy="1146950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devDependencies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"vitest": "^1.6.0",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"^24.1.0",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"@testing-library/react": "^15.0.7",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"@testing-library/jest-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"^6.4.5",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493468" y="2608596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41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Full Dependencies for Vitest and React (2 of 5)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 are the full dependencies for using Vitest to test a React application: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vitest</a:t>
            </a:r>
          </a:p>
          <a:p>
            <a:pPr lvl="1"/>
            <a:r>
              <a:rPr lang="en-GB" dirty="0"/>
              <a:t>Vitest framework for defining and running tests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Defines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expect</a:t>
            </a:r>
            <a:r>
              <a:rPr lang="en-GB" dirty="0"/>
              <a:t>, etc. (as we saw earlier)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707867"/>
            <a:ext cx="7241383" cy="1146950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devDependencies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defTabSz="554831"/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"vitest": "^1.6.0",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"^24.1.0",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"@testing-library/react": "^15.0.7",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"@testing-library/jest-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"^6.4.5",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493468" y="2608596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89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Full Dependencies for Vitest and React (3 of 5)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00500" y="924309"/>
            <a:ext cx="8165345" cy="3742941"/>
          </a:xfrm>
        </p:spPr>
        <p:txBody>
          <a:bodyPr/>
          <a:lstStyle/>
          <a:p>
            <a:r>
              <a:rPr lang="en-GB" dirty="0"/>
              <a:t>Here are the full dependencies for using Vitest to test a React application: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endParaRPr lang="en-GB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 dirty="0"/>
              <a:t>Pure JavaScript implementation of a DOM tree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Emulates a web browser environment, for testing a web app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707867"/>
            <a:ext cx="7241383" cy="1146950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devDependencies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"vitest": "^1.6.0",</a:t>
            </a:r>
          </a:p>
          <a:p>
            <a:pPr defTabSz="554831"/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"^24.1.0",</a:t>
            </a:r>
          </a:p>
          <a:p>
            <a:pPr defTabSz="554831"/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"@testing-library/react": "^15.0.7",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"@testing-library/jest-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"^6.4.5",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493468" y="2608596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847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Full Dependencies for Vitest and React (4 of 5)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 are the full dependencies for using Vitest to test a React application: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@testing-library/react</a:t>
            </a:r>
          </a:p>
          <a:p>
            <a:pPr lvl="1"/>
            <a:r>
              <a:rPr lang="en-GB" dirty="0"/>
              <a:t>React Testing Library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Enables you to test React components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707867"/>
            <a:ext cx="7241383" cy="1146950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devDependencies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"vitest": "^1.6.0",</a:t>
            </a:r>
          </a:p>
          <a:p>
            <a:pPr defTabSz="554831"/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"^24.1.0",</a:t>
            </a:r>
          </a:p>
          <a:p>
            <a:pPr defTabSz="554831"/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"@testing-library/react": "^15.0.7",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"@testing-library/jest-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"^6.4.5",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493468" y="2608596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609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Full Dependencies for Vitest and React (5 of 5)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00500" y="924309"/>
            <a:ext cx="8165345" cy="3742941"/>
          </a:xfrm>
        </p:spPr>
        <p:txBody>
          <a:bodyPr/>
          <a:lstStyle/>
          <a:p>
            <a:r>
              <a:rPr lang="en-GB" dirty="0"/>
              <a:t>Here are the full dependencies for using Vitest to test a React application: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@testing-library/jest-dom</a:t>
            </a:r>
          </a:p>
          <a:p>
            <a:pPr lvl="1"/>
            <a:r>
              <a:rPr lang="en-GB" dirty="0"/>
              <a:t>Defines a set of custom Jest matchers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Enables you to expressively test the content in the DOM tree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707867"/>
            <a:ext cx="7241383" cy="1146950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devDependencies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"vitest": "^1.6.0",</a:t>
            </a:r>
          </a:p>
          <a:p>
            <a:pPr defTabSz="554831"/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"^24.1.0",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"@testing-library/react": "^15.0.7",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"@testing-library/jest-</a:t>
            </a:r>
            <a:r>
              <a:rPr lang="en-GB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"^6.4.5",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493468" y="2608596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97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Vitest Configuration (1 of 5)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00500" y="924309"/>
            <a:ext cx="8165345" cy="3742941"/>
          </a:xfrm>
        </p:spPr>
        <p:txBody>
          <a:bodyPr/>
          <a:lstStyle/>
          <a:p>
            <a:r>
              <a:rPr lang="en-GB" dirty="0"/>
              <a:t>Configure Vitest as follows, to facilitate web testing: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following slides describe the details…</a:t>
            </a:r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66178"/>
            <a:ext cx="7241383" cy="1916392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react from '@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vitejs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/plugin-react';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from 'vitest/config';</a:t>
            </a:r>
          </a:p>
          <a:p>
            <a:pPr defTabSz="554831"/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https://vitejs.dev/config/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plugins: [react()],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test: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globals: true,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environment: '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setupFiles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'./tests/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setup.ts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339580" y="3036349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vite.config.ts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457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Vitest Configuration (2 of 5)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00500" y="924309"/>
            <a:ext cx="8165345" cy="3742941"/>
          </a:xfrm>
        </p:spPr>
        <p:txBody>
          <a:bodyPr/>
          <a:lstStyle/>
          <a:p>
            <a:r>
              <a:rPr lang="en-GB" dirty="0"/>
              <a:t>Configure Vitest as follows, to facilitate web testing: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'vitest/config'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(Rather than 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import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{</a:t>
            </a:r>
            <a:r>
              <a:rPr lang="en-GB" dirty="0" err="1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defineConfig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}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from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'</a:t>
            </a:r>
            <a:r>
              <a:rPr lang="en-GB" dirty="0" err="1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vite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'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Enables you to specify test-related configuration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66178"/>
            <a:ext cx="7241383" cy="1916392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react from '@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vitejs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/plugin-react';</a:t>
            </a:r>
          </a:p>
          <a:p>
            <a:pPr defTabSz="554831"/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{</a:t>
            </a:r>
            <a:r>
              <a:rPr lang="en-GB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from 'vitest/config';</a:t>
            </a:r>
          </a:p>
          <a:p>
            <a:pPr defTabSz="554831"/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https://vitejs.dev/config/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plugins: [react()],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test: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globals: true,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environment: '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setupFiles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'./tests/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setup.ts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339580" y="3036349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vite.config.ts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421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Vitest Configuration (3 of 5)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00500" y="924309"/>
            <a:ext cx="8165345" cy="3742941"/>
          </a:xfrm>
        </p:spPr>
        <p:txBody>
          <a:bodyPr/>
          <a:lstStyle/>
          <a:p>
            <a:r>
              <a:rPr lang="en-GB" dirty="0"/>
              <a:t>Configure Vitest as follows, to facilitate web testing: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globals: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Makes Vitest functions (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describe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expect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it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) available globally, without the need to import manually in your tests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You must also make </a:t>
            </a:r>
            <a:r>
              <a:rPr lang="en-GB" i="1" dirty="0">
                <a:ea typeface="Open Sans" panose="020B0606030504020204" pitchFamily="34" charset="0"/>
                <a:cs typeface="Open Sans" panose="020B0606030504020204" pitchFamily="34" charset="0"/>
              </a:rPr>
              <a:t>type info 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available globally too</a:t>
            </a: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66178"/>
            <a:ext cx="7241383" cy="1916392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react from '@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vitejs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/plugin-react';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from 'vitest/config';</a:t>
            </a:r>
          </a:p>
          <a:p>
            <a:pPr defTabSz="554831"/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https://vitejs.dev/config/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plugins: [react()],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test: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globals: true,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environment: '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setupFiles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'./tests/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setup.ts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339580" y="3036349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vite.config.ts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0EF21DFE-64AB-CFF3-5CBB-44C5A75ED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403" y="1539178"/>
            <a:ext cx="2926246" cy="993062"/>
          </a:xfrm>
          <a:prstGeom prst="rect">
            <a:avLst/>
          </a:prstGeom>
          <a:solidFill>
            <a:srgbClr val="F3FAFF"/>
          </a:solidFill>
          <a:ln>
            <a:solidFill>
              <a:schemeClr val="accent1"/>
            </a:solidFill>
          </a:ln>
          <a:effectLst/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compilerOptions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defTabSz="554831"/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"types": ["vitest/globals"],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…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4FA3E-3F22-E165-F8B7-6A59F77F5F74}"/>
              </a:ext>
            </a:extLst>
          </p:cNvPr>
          <p:cNvSpPr txBox="1"/>
          <p:nvPr/>
        </p:nvSpPr>
        <p:spPr>
          <a:xfrm>
            <a:off x="7314154" y="2287043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tsconfig.json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D26A5B9-7F42-191A-5D47-E6E13CB9690A}"/>
              </a:ext>
            </a:extLst>
          </p:cNvPr>
          <p:cNvSpPr/>
          <p:nvPr/>
        </p:nvSpPr>
        <p:spPr>
          <a:xfrm>
            <a:off x="7825111" y="1957892"/>
            <a:ext cx="1085808" cy="2915321"/>
          </a:xfrm>
          <a:custGeom>
            <a:avLst/>
            <a:gdLst>
              <a:gd name="connsiteX0" fmla="*/ 0 w 882127"/>
              <a:gd name="connsiteY0" fmla="*/ 2897393 h 2911736"/>
              <a:gd name="connsiteX1" fmla="*/ 882127 w 882127"/>
              <a:gd name="connsiteY1" fmla="*/ 2897393 h 2911736"/>
              <a:gd name="connsiteX2" fmla="*/ 882127 w 882127"/>
              <a:gd name="connsiteY2" fmla="*/ 2911736 h 2911736"/>
              <a:gd name="connsiteX3" fmla="*/ 882127 w 882127"/>
              <a:gd name="connsiteY3" fmla="*/ 0 h 2911736"/>
              <a:gd name="connsiteX4" fmla="*/ 548640 w 882127"/>
              <a:gd name="connsiteY4" fmla="*/ 0 h 2911736"/>
              <a:gd name="connsiteX0" fmla="*/ 0 w 882127"/>
              <a:gd name="connsiteY0" fmla="*/ 2897393 h 2911736"/>
              <a:gd name="connsiteX1" fmla="*/ 882127 w 882127"/>
              <a:gd name="connsiteY1" fmla="*/ 2897393 h 2911736"/>
              <a:gd name="connsiteX2" fmla="*/ 882127 w 882127"/>
              <a:gd name="connsiteY2" fmla="*/ 2911736 h 2911736"/>
              <a:gd name="connsiteX3" fmla="*/ 882127 w 882127"/>
              <a:gd name="connsiteY3" fmla="*/ 0 h 2911736"/>
              <a:gd name="connsiteX4" fmla="*/ 46616 w 882127"/>
              <a:gd name="connsiteY4" fmla="*/ 10758 h 2911736"/>
              <a:gd name="connsiteX0" fmla="*/ 0 w 882127"/>
              <a:gd name="connsiteY0" fmla="*/ 2900978 h 2915321"/>
              <a:gd name="connsiteX1" fmla="*/ 882127 w 882127"/>
              <a:gd name="connsiteY1" fmla="*/ 2900978 h 2915321"/>
              <a:gd name="connsiteX2" fmla="*/ 882127 w 882127"/>
              <a:gd name="connsiteY2" fmla="*/ 2915321 h 2915321"/>
              <a:gd name="connsiteX3" fmla="*/ 882127 w 882127"/>
              <a:gd name="connsiteY3" fmla="*/ 3585 h 2915321"/>
              <a:gd name="connsiteX4" fmla="*/ 46616 w 882127"/>
              <a:gd name="connsiteY4" fmla="*/ 0 h 2915321"/>
              <a:gd name="connsiteX0" fmla="*/ 0 w 1085808"/>
              <a:gd name="connsiteY0" fmla="*/ 2905312 h 2915321"/>
              <a:gd name="connsiteX1" fmla="*/ 1085808 w 1085808"/>
              <a:gd name="connsiteY1" fmla="*/ 2900978 h 2915321"/>
              <a:gd name="connsiteX2" fmla="*/ 1085808 w 1085808"/>
              <a:gd name="connsiteY2" fmla="*/ 2915321 h 2915321"/>
              <a:gd name="connsiteX3" fmla="*/ 1085808 w 1085808"/>
              <a:gd name="connsiteY3" fmla="*/ 3585 h 2915321"/>
              <a:gd name="connsiteX4" fmla="*/ 250297 w 1085808"/>
              <a:gd name="connsiteY4" fmla="*/ 0 h 2915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808" h="2915321">
                <a:moveTo>
                  <a:pt x="0" y="2905312"/>
                </a:moveTo>
                <a:lnTo>
                  <a:pt x="1085808" y="2900978"/>
                </a:lnTo>
                <a:lnTo>
                  <a:pt x="1085808" y="2915321"/>
                </a:lnTo>
                <a:lnTo>
                  <a:pt x="1085808" y="3585"/>
                </a:lnTo>
                <a:lnTo>
                  <a:pt x="250297" y="0"/>
                </a:lnTo>
              </a:path>
            </a:pathLst>
          </a:custGeom>
          <a:noFill/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529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Vitest Configuration (4 of 5)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00500" y="924309"/>
            <a:ext cx="8204497" cy="3742941"/>
          </a:xfrm>
        </p:spPr>
        <p:txBody>
          <a:bodyPr/>
          <a:lstStyle/>
          <a:p>
            <a:r>
              <a:rPr lang="en-GB" dirty="0"/>
              <a:t>Configure Vitest as follows, to facilitate web testing: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environment: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Tells Vitest to operate in </a:t>
            </a:r>
            <a:r>
              <a:rPr lang="en-GB" i="1" dirty="0" err="1">
                <a:ea typeface="Open Sans" panose="020B0606030504020204" pitchFamily="34" charset="0"/>
                <a:cs typeface="Open Sans" panose="020B0606030504020204" pitchFamily="34" charset="0"/>
              </a:rPr>
              <a:t>jsdom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mode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Simulates a browser environment (creates a 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document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 err="1">
                <a:ea typeface="Open Sans" panose="020B0606030504020204" pitchFamily="34" charset="0"/>
                <a:cs typeface="Open Sans" panose="020B0606030504020204" pitchFamily="34" charset="0"/>
              </a:rPr>
              <a:t>obj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66178"/>
            <a:ext cx="7241383" cy="1916392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react from '@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vitejs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/plugin-react';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from 'vitest/config';</a:t>
            </a:r>
          </a:p>
          <a:p>
            <a:pPr defTabSz="554831"/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https://vitejs.dev/config/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plugins: [react()],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test: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globals: true,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environment: '</a:t>
            </a:r>
            <a:r>
              <a:rPr lang="en-GB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setupFiles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'./tests/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setup.ts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339580" y="3036349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vite.config.ts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355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Vitest Configuration (5 of 5)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00500" y="924309"/>
            <a:ext cx="8165345" cy="3742941"/>
          </a:xfrm>
        </p:spPr>
        <p:txBody>
          <a:bodyPr/>
          <a:lstStyle/>
          <a:p>
            <a:r>
              <a:rPr lang="en-GB" dirty="0"/>
              <a:t>Configure Vitest as follows, to facilitate web testing: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setupFiles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'./tests/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setup.ts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Tells Vitest where to find additional test setup info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See next slide…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66178"/>
            <a:ext cx="7241383" cy="1916392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react from '@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vitejs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/plugin-react';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from 'vitest/config';</a:t>
            </a:r>
          </a:p>
          <a:p>
            <a:pPr defTabSz="554831"/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https://vitejs.dev/config/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defineConfig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plugins: [react()],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test: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globals: true,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environment: '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setupFiles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'./tests/</a:t>
            </a:r>
            <a:r>
              <a:rPr lang="en-GB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setup.ts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339580" y="3036349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vite.config.ts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794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Test Setup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00500" y="924309"/>
            <a:ext cx="8165345" cy="3742941"/>
          </a:xfrm>
        </p:spPr>
        <p:txBody>
          <a:bodyPr/>
          <a:lstStyle/>
          <a:p>
            <a:r>
              <a:rPr lang="en-GB" dirty="0"/>
              <a:t>Here's the test setup 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Ensures </a:t>
            </a:r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cleanup()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is called automatically after each test</a:t>
            </a:r>
          </a:p>
          <a:p>
            <a:pPr lvl="1"/>
            <a:r>
              <a:rPr lang="en-GB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cleanup()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is defined in the React Testing Library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Disposes test-related resources, to prevent memory leaks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D71C4809-3129-7FB4-016C-3FBB11FA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61838"/>
            <a:ext cx="7241383" cy="993062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chemeClr val="accent1">
                <a:lumMod val="75000"/>
              </a:schemeClr>
            </a:outerShdw>
          </a:effectLst>
        </p:spPr>
        <p:txBody>
          <a:bodyPr wrap="square" lIns="69056" tIns="34529" rIns="69056" bIns="34529" anchor="ctr">
            <a:spAutoFit/>
          </a:bodyPr>
          <a:lstStyle/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afterEach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} from 'vitest';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cleanup } from '@testing-library/react';</a:t>
            </a:r>
          </a:p>
          <a:p>
            <a:pPr defTabSz="554831"/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54831"/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afterEach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(() =&gt; {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cleanup();</a:t>
            </a:r>
          </a:p>
          <a:p>
            <a:pPr defTabSz="554831"/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6506-2A09-3054-2928-2263AFEC541E}"/>
              </a:ext>
            </a:extLst>
          </p:cNvPr>
          <p:cNvSpPr txBox="1"/>
          <p:nvPr/>
        </p:nvSpPr>
        <p:spPr>
          <a:xfrm>
            <a:off x="7339579" y="2108679"/>
            <a:ext cx="12618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tests/</a:t>
            </a:r>
            <a:r>
              <a:rPr lang="en-GB" sz="1000" b="1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setup.ts</a:t>
            </a:r>
            <a:endParaRPr lang="en-GB" sz="1000" b="1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544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Writing Tests for React (1 of 4)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Here's a test for the App component: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See following slides for an explanation… </a:t>
            </a:r>
          </a:p>
        </p:txBody>
      </p:sp>
      <p:sp>
        <p:nvSpPr>
          <p:cNvPr id="2" name="Rectangle 14">
            <a:extLst>
              <a:ext uri="{FF2B5EF4-FFF2-40B4-BE49-F238E27FC236}">
                <a16:creationId xmlns:a16="http://schemas.microsoft.com/office/drawing/2014/main" id="{709792AC-5AAB-81E2-9DAB-7CC8F5069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72586"/>
            <a:ext cx="7249114" cy="2093523"/>
          </a:xfrm>
          <a:prstGeom prst="rect">
            <a:avLst/>
          </a:prstGeom>
          <a:solidFill>
            <a:srgbClr val="FFE79B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FFB953"/>
            </a:outerShdw>
          </a:effectLst>
        </p:spPr>
        <p:txBody>
          <a:bodyPr wrap="square" lIns="92075" tIns="46038" rIns="92075" bIns="46038" anchor="ctr">
            <a:spAutoFit/>
          </a:bodyPr>
          <a:lstStyle/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render, screen } from '@testing-library/react'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'@testing-library/jest-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App from './App'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describe('App', () =&gt; {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it('renders heading', () =&gt; {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render(&lt;App /&gt;)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const h1Element =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screen.getByText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(/This is my cool app/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expect(h1Element).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toBeInTheDocument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7B9F31-49D0-2D1D-0C45-ED80A4E2DBF8}"/>
              </a:ext>
            </a:extLst>
          </p:cNvPr>
          <p:cNvSpPr txBox="1"/>
          <p:nvPr/>
        </p:nvSpPr>
        <p:spPr>
          <a:xfrm>
            <a:off x="7493468" y="3217638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App.test.tsx</a:t>
            </a:r>
            <a:endParaRPr lang="en-GB" sz="1000" b="1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691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Writing Tests for React (2 of 4)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Here's a test for the App component: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render()</a:t>
            </a:r>
            <a:r>
              <a:rPr lang="en-GB" dirty="0"/>
              <a:t> renders a component in the virtual browser</a:t>
            </a:r>
          </a:p>
        </p:txBody>
      </p:sp>
      <p:sp>
        <p:nvSpPr>
          <p:cNvPr id="2" name="Rectangle 14">
            <a:extLst>
              <a:ext uri="{FF2B5EF4-FFF2-40B4-BE49-F238E27FC236}">
                <a16:creationId xmlns:a16="http://schemas.microsoft.com/office/drawing/2014/main" id="{84ECED07-14CB-8603-D2A7-211972428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72586"/>
            <a:ext cx="7249114" cy="2093523"/>
          </a:xfrm>
          <a:prstGeom prst="rect">
            <a:avLst/>
          </a:prstGeom>
          <a:solidFill>
            <a:srgbClr val="FFE79B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FFB953"/>
            </a:outerShdw>
          </a:effectLst>
        </p:spPr>
        <p:txBody>
          <a:bodyPr wrap="square" lIns="92075" tIns="46038" rIns="92075" bIns="46038" anchor="ctr">
            <a:spAutoFit/>
          </a:bodyPr>
          <a:lstStyle/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render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screen } from '@testing-library/react'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'@testing-library/jest-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App from './App'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describe('App', () =&gt; {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it('renders heading', () =&gt; {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render(&lt;App /&gt;)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const h1Element =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screen.getByText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(/This is my cool app/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expect(h1Element).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toBeInTheDocument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90E437-4F46-449A-3A18-7EF29BDF6E61}"/>
              </a:ext>
            </a:extLst>
          </p:cNvPr>
          <p:cNvSpPr txBox="1"/>
          <p:nvPr/>
        </p:nvSpPr>
        <p:spPr>
          <a:xfrm>
            <a:off x="7493468" y="3217638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App.test.tsx</a:t>
            </a:r>
            <a:endParaRPr lang="en-GB" sz="1000" b="1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914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Writing Tests for React (3 of 4)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00501" y="924309"/>
            <a:ext cx="8032484" cy="3742941"/>
          </a:xfrm>
        </p:spPr>
        <p:txBody>
          <a:bodyPr/>
          <a:lstStyle/>
          <a:p>
            <a:r>
              <a:rPr lang="en-GB" dirty="0"/>
              <a:t>Here's a test for the App component: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screen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gives access to content in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document.body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in the virtual browser's DOM tree</a:t>
            </a:r>
          </a:p>
        </p:txBody>
      </p:sp>
      <p:sp>
        <p:nvSpPr>
          <p:cNvPr id="2" name="Rectangle 14">
            <a:extLst>
              <a:ext uri="{FF2B5EF4-FFF2-40B4-BE49-F238E27FC236}">
                <a16:creationId xmlns:a16="http://schemas.microsoft.com/office/drawing/2014/main" id="{1811171B-DB76-59AE-F35F-256F1E04A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72586"/>
            <a:ext cx="7249114" cy="2093523"/>
          </a:xfrm>
          <a:prstGeom prst="rect">
            <a:avLst/>
          </a:prstGeom>
          <a:solidFill>
            <a:srgbClr val="FFE79B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FFB953"/>
            </a:outerShdw>
          </a:effectLst>
        </p:spPr>
        <p:txBody>
          <a:bodyPr wrap="square" lIns="92075" tIns="46038" rIns="92075" bIns="46038" anchor="ctr">
            <a:spAutoFit/>
          </a:bodyPr>
          <a:lstStyle/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render, 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screen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} from '@testing-library/react'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'@testing-library/jest-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App from './App'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describe('App', () =&gt; {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it('renders heading', () =&gt; {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render(&lt;App /&gt;)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 h1Element = </a:t>
            </a:r>
            <a:r>
              <a:rPr lang="en-GB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screen.getByText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(/This is my cool app/</a:t>
            </a:r>
            <a:r>
              <a:rPr lang="en-GB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expect(h1Element).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toBeInTheDocument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A5312-4E88-A87D-102E-49D561E7FBC5}"/>
              </a:ext>
            </a:extLst>
          </p:cNvPr>
          <p:cNvSpPr txBox="1"/>
          <p:nvPr/>
        </p:nvSpPr>
        <p:spPr>
          <a:xfrm>
            <a:off x="7493468" y="3217638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App.test.tsx</a:t>
            </a:r>
            <a:endParaRPr lang="en-GB" sz="1000" b="1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508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Writing Tests for React (4 of 4)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00501" y="924309"/>
            <a:ext cx="8200468" cy="3742941"/>
          </a:xfrm>
        </p:spPr>
        <p:txBody>
          <a:bodyPr/>
          <a:lstStyle/>
          <a:p>
            <a:r>
              <a:rPr lang="en-GB" dirty="0"/>
              <a:t>Here's a test for the App component: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toBeInTheDocument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is a jest-</a:t>
            </a:r>
            <a:r>
              <a:rPr lang="en-GB" dirty="0" err="1">
                <a:ea typeface="Open Sans" panose="020B0606030504020204" pitchFamily="34" charset="0"/>
                <a:cs typeface="Open Sans" panose="020B0606030504020204" pitchFamily="34" charset="0"/>
              </a:rPr>
              <a:t>dom</a:t>
            </a:r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 custom matcher</a:t>
            </a:r>
          </a:p>
          <a:p>
            <a:pPr lvl="1"/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Enables you to write expressive tests for DOM content</a:t>
            </a:r>
            <a:endParaRPr lang="en-GB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4F9AA427-51BD-336C-2E23-8B384671A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50" y="1372586"/>
            <a:ext cx="7249114" cy="2093523"/>
          </a:xfrm>
          <a:prstGeom prst="rect">
            <a:avLst/>
          </a:prstGeom>
          <a:solidFill>
            <a:srgbClr val="FFE79B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FFB953"/>
            </a:outerShdw>
          </a:effectLst>
        </p:spPr>
        <p:txBody>
          <a:bodyPr wrap="square" lIns="92075" tIns="46038" rIns="92075" bIns="46038" anchor="ctr">
            <a:spAutoFit/>
          </a:bodyPr>
          <a:lstStyle/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render, screen } from '@testing-library/react'</a:t>
            </a:r>
          </a:p>
          <a:p>
            <a:pPr defTabSz="739775">
              <a:defRPr/>
            </a:pP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'@testing-library/jest-</a:t>
            </a:r>
            <a:r>
              <a:rPr lang="en-GB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App from './App'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describe('App', () =&gt; {</a:t>
            </a:r>
          </a:p>
          <a:p>
            <a:pPr defTabSz="739775">
              <a:defRPr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it('renders heading', () =&gt; {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render(&lt;App /&gt;)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const h1Element = 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screen.getByText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(/This is my cool app/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expect(h1Element).</a:t>
            </a:r>
            <a:r>
              <a:rPr lang="en-GB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toBeInTheDocument</a:t>
            </a: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pPr defTabSz="739775">
              <a:defRPr/>
            </a:pP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FEB13-C91A-5E29-C076-A767A78A3949}"/>
              </a:ext>
            </a:extLst>
          </p:cNvPr>
          <p:cNvSpPr txBox="1"/>
          <p:nvPr/>
        </p:nvSpPr>
        <p:spPr>
          <a:xfrm>
            <a:off x="7493468" y="3217638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b="1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App.test.tsx</a:t>
            </a:r>
            <a:endParaRPr lang="en-GB" sz="1000" b="1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118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1678782" y="4669631"/>
            <a:ext cx="1394222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3487341" y="4669631"/>
            <a:ext cx="2169319" cy="3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3076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Running the Tests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25CA6-BBEE-4C0B-9E3A-3E5CC775E799}"/>
              </a:ext>
            </a:extLst>
          </p:cNvPr>
          <p:cNvSpPr txBox="1"/>
          <p:nvPr/>
        </p:nvSpPr>
        <p:spPr>
          <a:xfrm>
            <a:off x="1352350" y="870759"/>
            <a:ext cx="6852254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run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08F20-6F78-C42F-E918-E2498B99D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350" y="1640416"/>
            <a:ext cx="6829764" cy="2644717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9A418048-EB4B-4531-82B2-3A6C79D5B006}"/>
              </a:ext>
            </a:extLst>
          </p:cNvPr>
          <p:cNvSpPr/>
          <p:nvPr/>
        </p:nvSpPr>
        <p:spPr>
          <a:xfrm>
            <a:off x="2208100" y="1139971"/>
            <a:ext cx="541576" cy="77870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149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7068" y="312434"/>
            <a:ext cx="6797758" cy="628090"/>
          </a:xfrm>
        </p:spPr>
        <p:txBody>
          <a:bodyPr/>
          <a:lstStyle/>
          <a:p>
            <a:r>
              <a:rPr lang="en-US" sz="2800" dirty="0">
                <a:solidFill>
                  <a:srgbClr val="005B70"/>
                </a:solidFill>
              </a:rPr>
              <a:t>Summary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E04218F-10E0-4B14-BDB1-FF256EC12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2965" y="1262901"/>
            <a:ext cx="6233685" cy="1226761"/>
          </a:xfrm>
        </p:spPr>
        <p:txBody>
          <a:bodyPr>
            <a:noAutofit/>
          </a:bodyPr>
          <a:lstStyle/>
          <a:p>
            <a:pPr marL="512763" indent="-4572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Introduction to web testing</a:t>
            </a:r>
          </a:p>
          <a:p>
            <a:pPr marL="512763" indent="-4572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Getting started with Vitest</a:t>
            </a:r>
          </a:p>
          <a:p>
            <a:pPr marL="512763" indent="-4572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Using Vitest to test React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89142345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Standard_LiveLessons_2017.potm</Template>
  <TotalTime>8055</TotalTime>
  <Words>2051</Words>
  <Application>Microsoft Office PowerPoint</Application>
  <PresentationFormat>On-screen Show (16:9)</PresentationFormat>
  <Paragraphs>460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Open Sans</vt:lpstr>
      <vt:lpstr>Standard_LiveLessons_2017</vt:lpstr>
      <vt:lpstr>Testing React Applications</vt:lpstr>
      <vt:lpstr>Section 1:  Introduction to Web Testing</vt:lpstr>
      <vt:lpstr>The Traditional Approach to Testing Web Apps</vt:lpstr>
      <vt:lpstr>A Better Approach to Testing</vt:lpstr>
      <vt:lpstr>Web Testing Frameworks</vt:lpstr>
      <vt:lpstr>Section 2:  Getting Started with Vitest</vt:lpstr>
      <vt:lpstr>Overview</vt:lpstr>
      <vt:lpstr>Minimal Dependency for Vitest</vt:lpstr>
      <vt:lpstr>Writing Tests</vt:lpstr>
      <vt:lpstr>Running Tests</vt:lpstr>
      <vt:lpstr>Section 3: Using Vitest to Test React Applications</vt:lpstr>
      <vt:lpstr>Overview</vt:lpstr>
      <vt:lpstr>Full Dependencies for Vitest and React (1 of 5)</vt:lpstr>
      <vt:lpstr>Full Dependencies for Vitest and React (2 of 5)</vt:lpstr>
      <vt:lpstr>Full Dependencies for Vitest and React (3 of 5)</vt:lpstr>
      <vt:lpstr>Full Dependencies for Vitest and React (4 of 5)</vt:lpstr>
      <vt:lpstr>Full Dependencies for Vitest and React (5 of 5)</vt:lpstr>
      <vt:lpstr>Vitest Configuration (1 of 5)</vt:lpstr>
      <vt:lpstr>Vitest Configuration (2 of 5)</vt:lpstr>
      <vt:lpstr>Vitest Configuration (3 of 5)</vt:lpstr>
      <vt:lpstr>Vitest Configuration (4 of 5)</vt:lpstr>
      <vt:lpstr>Vitest Configuration (5 of 5)</vt:lpstr>
      <vt:lpstr>Test Setup</vt:lpstr>
      <vt:lpstr>Writing Tests for React (1 of 4)</vt:lpstr>
      <vt:lpstr>Writing Tests for React (2 of 4)</vt:lpstr>
      <vt:lpstr>Writing Tests for React (3 of 4)</vt:lpstr>
      <vt:lpstr>Writing Tests for React (4 of 4)</vt:lpstr>
      <vt:lpstr>Running the Tests</vt:lpstr>
      <vt:lpstr>Summary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Andy Olsen</cp:lastModifiedBy>
  <cp:revision>389</cp:revision>
  <dcterms:created xsi:type="dcterms:W3CDTF">2015-09-28T19:52:00Z</dcterms:created>
  <dcterms:modified xsi:type="dcterms:W3CDTF">2024-12-17T10:41:44Z</dcterms:modified>
</cp:coreProperties>
</file>